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3"/>
  </p:notesMasterIdLst>
  <p:sldIdLst>
    <p:sldId id="256" r:id="rId2"/>
  </p:sldIdLst>
  <p:sldSz cx="6858000" cy="9144000" type="letter"/>
  <p:notesSz cx="7010400" cy="92964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67E"/>
    <a:srgbClr val="C859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FECB4D8-DB02-4DC6-A0A2-4F2EBAE1DC90}" styleName="Estilo medio 1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Estilo claro 3 - Acento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Estilo medio 4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Estilo medio 4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Estilo medio 4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Estilo medio 4 - Énfasis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180" autoAdjust="0"/>
    <p:restoredTop sz="94660"/>
  </p:normalViewPr>
  <p:slideViewPr>
    <p:cSldViewPr>
      <p:cViewPr varScale="1">
        <p:scale>
          <a:sx n="56" d="100"/>
          <a:sy n="56" d="100"/>
        </p:scale>
        <p:origin x="3067" y="3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868A83-9C51-416A-A3E3-2F0E02D96A59}" type="datetimeFigureOut">
              <a:rPr lang="es-MX" smtClean="0"/>
              <a:t>06/10/2025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328863" y="1162050"/>
            <a:ext cx="23526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C420C7-106F-4A61-9F9E-086752EEC2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47338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C420C7-106F-4A61-9F9E-086752EEC24D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46570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003B3B-4C5B-4E55-AA73-ED7DAA4395FE}" type="datetimeFigureOut">
              <a:rPr lang="es-ES"/>
              <a:pPr>
                <a:defRPr/>
              </a:pPr>
              <a:t>06/10/2025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760FCA-A6B9-4ECD-B734-FB3E19E39EE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9139CF-A61B-4B70-8EB7-0D2F2A3EF2BC}" type="datetimeFigureOut">
              <a:rPr lang="es-ES"/>
              <a:pPr>
                <a:defRPr/>
              </a:pPr>
              <a:t>06/10/2025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372BDE-E2AE-468E-A215-1B455B549AA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1CA8C6-68D1-4FB9-BE32-A5A26890B807}" type="datetimeFigureOut">
              <a:rPr lang="es-ES"/>
              <a:pPr>
                <a:defRPr/>
              </a:pPr>
              <a:t>06/10/2025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6F9DE-F3D8-481D-ADEB-179D7A8EBD9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07C32-BD68-4E8D-B47F-740956C30149}" type="datetimeFigureOut">
              <a:rPr lang="es-ES"/>
              <a:pPr>
                <a:defRPr/>
              </a:pPr>
              <a:t>06/10/2025</a:t>
            </a:fld>
            <a:endParaRPr lang="es-ES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57EE3F-4A31-4C46-BB7A-789EA982B779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6FA548-0FEA-400D-96FD-4229F2A89A0A}" type="datetimeFigureOut">
              <a:rPr lang="es-ES"/>
              <a:pPr>
                <a:defRPr/>
              </a:pPr>
              <a:t>06/10/2025</a:t>
            </a:fld>
            <a:endParaRPr lang="es-ES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D3D431-C674-4702-9A80-81BCFC042819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5A3EDA-2485-4FFC-83C6-FCBF146D47BB}" type="datetimeFigureOut">
              <a:rPr lang="es-ES"/>
              <a:pPr>
                <a:defRPr/>
              </a:pPr>
              <a:t>06/10/2025</a:t>
            </a:fld>
            <a:endParaRPr lang="es-ES"/>
          </a:p>
        </p:txBody>
      </p:sp>
      <p:sp>
        <p:nvSpPr>
          <p:cNvPr id="4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D91044-684D-49DD-9D9F-A6702DB521E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C54D0C-49DF-4FD5-95FF-1558478C07E5}" type="datetimeFigureOut">
              <a:rPr lang="es-ES"/>
              <a:pPr>
                <a:defRPr/>
              </a:pPr>
              <a:t>06/10/2025</a:t>
            </a:fld>
            <a:endParaRPr lang="es-ES"/>
          </a:p>
        </p:txBody>
      </p:sp>
      <p:sp>
        <p:nvSpPr>
          <p:cNvPr id="3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B92C7E-B39F-4ADB-8F49-B7E4736B53D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92A725-A1CD-4C3C-9733-B9A502E8369D}" type="datetimeFigureOut">
              <a:rPr lang="es-ES"/>
              <a:pPr>
                <a:defRPr/>
              </a:pPr>
              <a:t>06/10/2025</a:t>
            </a:fld>
            <a:endParaRPr lang="es-ES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942754-A532-4883-98CA-C0BDEFE60FD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44867F-E7A3-4642-BCFD-3918B1448BEE}" type="datetimeFigureOut">
              <a:rPr lang="es-ES"/>
              <a:pPr>
                <a:defRPr/>
              </a:pPr>
              <a:t>06/10/2025</a:t>
            </a:fld>
            <a:endParaRPr lang="es-ES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4758E7-66D1-46C3-AF7B-EFEA3E6F33B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B9DA20-7225-48ED-A328-09820FCF68E6}" type="datetimeFigureOut">
              <a:rPr lang="es-ES"/>
              <a:pPr>
                <a:defRPr/>
              </a:pPr>
              <a:t>06/10/2025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A7D26-E76C-40EC-ABF7-A0A05B72AD8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1F70C3-948A-4762-9243-9654DC4716A7}" type="datetimeFigureOut">
              <a:rPr lang="es-ES"/>
              <a:pPr>
                <a:defRPr/>
              </a:pPr>
              <a:t>06/10/2025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B60EED-C2D7-4DE9-80A9-F7CAD108C19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342900" y="366713"/>
            <a:ext cx="61722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342900" y="2133600"/>
            <a:ext cx="6172200" cy="603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342900" y="8475663"/>
            <a:ext cx="1600200" cy="485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A674317-FB46-4A35-A880-08A58D7F395C}" type="datetimeFigureOut">
              <a:rPr lang="es-ES"/>
              <a:pPr>
                <a:defRPr/>
              </a:pPr>
              <a:t>06/10/2025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343150" y="8475663"/>
            <a:ext cx="2171700" cy="485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4914900" y="8475663"/>
            <a:ext cx="1600200" cy="485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C7A334C-166B-4655-BF37-7B38E7E68518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115 CuadroTexto"/>
          <p:cNvSpPr txBox="1">
            <a:spLocks noChangeArrowheads="1"/>
          </p:cNvSpPr>
          <p:nvPr/>
        </p:nvSpPr>
        <p:spPr bwMode="auto">
          <a:xfrm>
            <a:off x="27384" y="1115616"/>
            <a:ext cx="683061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1433513"/>
            <a:r>
              <a:rPr lang="es-MX" sz="1200" b="1" dirty="0">
                <a:latin typeface="Visby" pitchFamily="50" charset="0"/>
                <a:cs typeface="Arial" panose="020B0604020202020204" pitchFamily="34" charset="0"/>
              </a:rPr>
              <a:t>Carnet de Revisión y Avance de Tesis de Licenciatura</a:t>
            </a:r>
          </a:p>
        </p:txBody>
      </p:sp>
      <p:sp>
        <p:nvSpPr>
          <p:cNvPr id="2053" name="121 CuadroTexto"/>
          <p:cNvSpPr txBox="1">
            <a:spLocks noChangeArrowheads="1"/>
          </p:cNvSpPr>
          <p:nvPr/>
        </p:nvSpPr>
        <p:spPr bwMode="auto">
          <a:xfrm>
            <a:off x="260648" y="6804248"/>
            <a:ext cx="6294502" cy="861774"/>
          </a:xfrm>
          <a:prstGeom prst="rect">
            <a:avLst/>
          </a:prstGeom>
          <a:noFill/>
          <a:ln w="3175">
            <a:solidFill>
              <a:schemeClr val="tx1">
                <a:alpha val="69019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1433513"/>
            <a:r>
              <a:rPr lang="es-MX" sz="1000" dirty="0">
                <a:latin typeface="Visby" pitchFamily="50" charset="0"/>
              </a:rPr>
              <a:t>Comentarios Finales:</a:t>
            </a:r>
          </a:p>
          <a:p>
            <a:pPr defTabSz="1433513"/>
            <a:endParaRPr lang="es-MX" sz="1000" dirty="0">
              <a:latin typeface="Cambria" pitchFamily="18" charset="0"/>
            </a:endParaRPr>
          </a:p>
          <a:p>
            <a:pPr defTabSz="1433513"/>
            <a:endParaRPr lang="es-MX" sz="1000" b="1" dirty="0">
              <a:latin typeface="Cambria" pitchFamily="18" charset="0"/>
            </a:endParaRPr>
          </a:p>
          <a:p>
            <a:pPr defTabSz="1433513"/>
            <a:endParaRPr lang="es-MX" sz="1000" b="1" dirty="0">
              <a:latin typeface="Cambria" pitchFamily="18" charset="0"/>
            </a:endParaRPr>
          </a:p>
          <a:p>
            <a:pPr defTabSz="1433513"/>
            <a:endParaRPr lang="es-MX" sz="1000" b="1" dirty="0">
              <a:latin typeface="Cambria" pitchFamily="18" charset="0"/>
            </a:endParaRPr>
          </a:p>
        </p:txBody>
      </p:sp>
      <p:sp>
        <p:nvSpPr>
          <p:cNvPr id="2056" name="58 Rectángulo"/>
          <p:cNvSpPr>
            <a:spLocks noChangeArrowheads="1"/>
          </p:cNvSpPr>
          <p:nvPr/>
        </p:nvSpPr>
        <p:spPr bwMode="auto">
          <a:xfrm>
            <a:off x="237134" y="1468105"/>
            <a:ext cx="6288210" cy="990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1433513">
              <a:lnSpc>
                <a:spcPct val="150000"/>
              </a:lnSpc>
            </a:pPr>
            <a:r>
              <a:rPr lang="es-MX" sz="800" dirty="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Tesista:  _____________________________________________________________________                  Carrera: ______________</a:t>
            </a:r>
          </a:p>
          <a:p>
            <a:pPr defTabSz="1433513">
              <a:lnSpc>
                <a:spcPct val="150000"/>
              </a:lnSpc>
            </a:pPr>
            <a:r>
              <a:rPr lang="es-MX" sz="800" dirty="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Título de la tesis:  _____________________________________________________________________________________________  ____________________________________________________________________________________________________________</a:t>
            </a:r>
          </a:p>
          <a:p>
            <a:pPr defTabSz="1433513">
              <a:lnSpc>
                <a:spcPct val="150000"/>
              </a:lnSpc>
            </a:pPr>
            <a:r>
              <a:rPr lang="es-MX" sz="800" dirty="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Número de Oficio de Asignación de Comité de Tesis: ___________________________________</a:t>
            </a:r>
          </a:p>
          <a:p>
            <a:pPr defTabSz="1433513">
              <a:lnSpc>
                <a:spcPct val="150000"/>
              </a:lnSpc>
            </a:pPr>
            <a:r>
              <a:rPr lang="es-MX" sz="800" dirty="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Director de Tesis:______________________________________________ Fecha de Inicio de Revisiones:  _____________________</a:t>
            </a:r>
          </a:p>
        </p:txBody>
      </p:sp>
      <p:graphicFrame>
        <p:nvGraphicFramePr>
          <p:cNvPr id="60" name="59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172709"/>
              </p:ext>
            </p:extLst>
          </p:nvPr>
        </p:nvGraphicFramePr>
        <p:xfrm>
          <a:off x="260649" y="2555776"/>
          <a:ext cx="6294501" cy="421637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25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20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7775">
                <a:tc>
                  <a:txBody>
                    <a:bodyPr/>
                    <a:lstStyle/>
                    <a:p>
                      <a:pPr marL="0" indent="0" algn="ctr"/>
                      <a:r>
                        <a:rPr lang="es-ES" sz="600" cap="small" baseline="0" dirty="0">
                          <a:solidFill>
                            <a:schemeClr val="tx1"/>
                          </a:solidFill>
                        </a:rPr>
                        <a:t>No.</a:t>
                      </a:r>
                      <a:endParaRPr lang="es-ES" sz="600" cap="small" baseline="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cap="small" baseline="0" dirty="0">
                          <a:solidFill>
                            <a:schemeClr val="tx1"/>
                          </a:solidFill>
                        </a:rPr>
                        <a:t>Fecha</a:t>
                      </a:r>
                    </a:p>
                    <a:p>
                      <a:pPr algn="ctr"/>
                      <a:r>
                        <a:rPr lang="es-ES" sz="800" cap="none" baseline="0" dirty="0" err="1">
                          <a:solidFill>
                            <a:schemeClr val="tx1"/>
                          </a:solidFill>
                        </a:rPr>
                        <a:t>dd</a:t>
                      </a:r>
                      <a:r>
                        <a:rPr lang="es-ES" sz="800" cap="none" baseline="0" dirty="0">
                          <a:solidFill>
                            <a:schemeClr val="tx1"/>
                          </a:solidFill>
                        </a:rPr>
                        <a:t>/mm/</a:t>
                      </a:r>
                      <a:r>
                        <a:rPr lang="es-ES" sz="800" cap="none" baseline="0" dirty="0" err="1">
                          <a:solidFill>
                            <a:schemeClr val="tx1"/>
                          </a:solidFill>
                        </a:rPr>
                        <a:t>aa</a:t>
                      </a:r>
                      <a:endParaRPr lang="es-ES" sz="800" b="0" cap="none" baseline="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cap="small" baseline="0" dirty="0">
                          <a:solidFill>
                            <a:schemeClr val="tx1"/>
                          </a:solidFill>
                        </a:rPr>
                        <a:t>Secciones Revisadas</a:t>
                      </a:r>
                      <a:endParaRPr lang="es-ES" sz="900" cap="small" baseline="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cap="small" baseline="0" dirty="0">
                          <a:solidFill>
                            <a:schemeClr val="tx1"/>
                          </a:solidFill>
                        </a:rPr>
                        <a:t>%  Avance </a:t>
                      </a:r>
                      <a:endParaRPr lang="es-ES" sz="700" cap="small" baseline="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cap="small" baseline="0" dirty="0">
                          <a:solidFill>
                            <a:schemeClr val="tx1"/>
                          </a:solidFill>
                        </a:rPr>
                        <a:t>Observaciones</a:t>
                      </a:r>
                      <a:endParaRPr lang="es-ES" sz="900" cap="small" baseline="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00" cap="small" baseline="0" dirty="0">
                          <a:solidFill>
                            <a:schemeClr val="tx1"/>
                          </a:solidFill>
                        </a:rPr>
                        <a:t>Firma del Director o Comité de Tesis</a:t>
                      </a:r>
                    </a:p>
                    <a:p>
                      <a:pPr algn="ctr"/>
                      <a:r>
                        <a:rPr lang="es-ES" sz="800" cap="small" baseline="0" dirty="0">
                          <a:solidFill>
                            <a:schemeClr val="tx1"/>
                          </a:solidFill>
                        </a:rPr>
                        <a:t>(autógrafa)</a:t>
                      </a:r>
                      <a:endParaRPr lang="es-ES" sz="800" cap="small" baseline="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885">
                <a:tc>
                  <a:txBody>
                    <a:bodyPr/>
                    <a:lstStyle/>
                    <a:p>
                      <a:pPr algn="ctr"/>
                      <a:r>
                        <a:rPr lang="es-ES" sz="900" b="1" cap="small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s-ES" sz="900" b="1" cap="small" baseline="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algn="ctr"/>
                      <a:endParaRPr lang="es-ES" sz="9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s-ES" sz="900" b="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800" b="1" dirty="0">
                          <a:solidFill>
                            <a:schemeClr val="tx1"/>
                          </a:solidFill>
                        </a:rPr>
                        <a:t>I. Introducción</a:t>
                      </a:r>
                    </a:p>
                    <a:p>
                      <a:pPr algn="just"/>
                      <a:endParaRPr lang="es-ES" sz="800" b="1" dirty="0">
                        <a:solidFill>
                          <a:schemeClr val="tx1"/>
                        </a:solidFill>
                      </a:endParaRPr>
                    </a:p>
                    <a:p>
                      <a:pPr algn="just"/>
                      <a:endParaRPr lang="es-ES" sz="800" b="1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algn="ctr"/>
                      <a:endParaRPr lang="es-ES" sz="900" b="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algn="ctr"/>
                      <a:endParaRPr lang="es-ES" sz="900" b="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algn="ctr"/>
                      <a:endParaRPr lang="es-ES" sz="900" b="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885">
                <a:tc>
                  <a:txBody>
                    <a:bodyPr/>
                    <a:lstStyle/>
                    <a:p>
                      <a:pPr algn="ctr"/>
                      <a:r>
                        <a:rPr lang="es-ES" sz="900" b="1" cap="small" baseline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s-ES" sz="900" b="1" cap="small" baseline="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algn="ctr"/>
                      <a:endParaRPr lang="es-ES" sz="9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s-ES" sz="900" b="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800" b="1" dirty="0">
                          <a:solidFill>
                            <a:schemeClr val="tx1"/>
                          </a:solidFill>
                        </a:rPr>
                        <a:t>II. Objetivos </a:t>
                      </a:r>
                    </a:p>
                    <a:p>
                      <a:pPr algn="just"/>
                      <a:endParaRPr lang="es-ES" sz="800" b="1" dirty="0">
                        <a:solidFill>
                          <a:schemeClr val="tx1"/>
                        </a:solidFill>
                      </a:endParaRPr>
                    </a:p>
                    <a:p>
                      <a:pPr algn="just"/>
                      <a:endParaRPr lang="es-ES" sz="800" b="1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algn="ctr"/>
                      <a:endParaRPr lang="es-ES" sz="900" b="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algn="ctr"/>
                      <a:endParaRPr lang="es-ES" sz="900" b="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algn="ctr"/>
                      <a:endParaRPr lang="es-ES" sz="900" b="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8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900" b="1" kern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s-ES" sz="900" b="1" kern="120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ES" sz="90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0" algn="ctr" defTabSz="914400" rtl="0" eaLnBrk="1" latinLnBrk="0" hangingPunct="1"/>
                      <a:endParaRPr lang="es-ES" sz="900" b="0" kern="120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800" b="1" dirty="0">
                          <a:solidFill>
                            <a:schemeClr val="tx1"/>
                          </a:solidFill>
                        </a:rPr>
                        <a:t>III. Justificación </a:t>
                      </a:r>
                    </a:p>
                    <a:p>
                      <a:pPr algn="l"/>
                      <a:r>
                        <a:rPr lang="es-ES" sz="800" b="1" dirty="0">
                          <a:solidFill>
                            <a:schemeClr val="tx1"/>
                          </a:solidFill>
                        </a:rPr>
                        <a:t>IV. Alcances y Delimitación.</a:t>
                      </a:r>
                    </a:p>
                    <a:p>
                      <a:pPr algn="just"/>
                      <a:endParaRPr lang="es-ES" sz="800" b="1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ES" sz="900" b="0" kern="120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ES" sz="900" b="0" kern="120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ES" sz="900" b="0" kern="120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885">
                <a:tc>
                  <a:txBody>
                    <a:bodyPr/>
                    <a:lstStyle/>
                    <a:p>
                      <a:pPr algn="ctr"/>
                      <a:r>
                        <a:rPr lang="es-ES" sz="900" b="1" cap="small" baseline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s-ES" sz="900" b="1" cap="small" baseline="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algn="ctr"/>
                      <a:endParaRPr lang="es-ES" sz="9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s-ES" sz="900" b="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800" b="1" dirty="0">
                          <a:solidFill>
                            <a:schemeClr val="tx1"/>
                          </a:solidFill>
                        </a:rPr>
                        <a:t>V. Análisis de Fundamentos</a:t>
                      </a: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algn="ctr"/>
                      <a:endParaRPr lang="es-ES" sz="900" b="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algn="ctr"/>
                      <a:endParaRPr lang="es-ES" sz="900" b="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algn="ctr"/>
                      <a:endParaRPr lang="es-ES" sz="900" b="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8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900" b="1" kern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s-ES" sz="900" b="1" kern="120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ES" sz="90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0" algn="ctr" defTabSz="914400" rtl="0" eaLnBrk="1" latinLnBrk="0" hangingPunct="1"/>
                      <a:endParaRPr lang="es-ES" sz="900" b="0" kern="120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800" b="1" dirty="0">
                          <a:solidFill>
                            <a:schemeClr val="tx1"/>
                          </a:solidFill>
                        </a:rPr>
                        <a:t>VI. Metodología </a:t>
                      </a:r>
                    </a:p>
                    <a:p>
                      <a:pPr algn="just"/>
                      <a:endParaRPr lang="es-E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ES" sz="900" b="0" kern="120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ES" sz="900" b="0" kern="120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ES" sz="900" b="0" kern="120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18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900" b="1" kern="1200" cap="small" baseline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s-ES" sz="900" b="1" kern="1200" cap="small" baseline="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ES" sz="900" kern="1200" cap="small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0" algn="ctr" defTabSz="914400" rtl="0" eaLnBrk="1" latinLnBrk="0" hangingPunct="1"/>
                      <a:endParaRPr lang="es-ES" sz="900" b="0" kern="1200" cap="small" baseline="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800" b="1" dirty="0">
                          <a:solidFill>
                            <a:schemeClr val="tx1"/>
                          </a:solidFill>
                        </a:rPr>
                        <a:t>VII. Resultados </a:t>
                      </a:r>
                    </a:p>
                    <a:p>
                      <a:pPr algn="just"/>
                      <a:endParaRPr lang="es-ES" sz="800" b="1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ES" sz="900" b="0" kern="1200" cap="small" baseline="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ES" sz="900" b="0" kern="1200" cap="small" baseline="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ES" sz="900" b="0" kern="1200" cap="small" baseline="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340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900" b="1" kern="1200" cap="small" baseline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s-ES" sz="900" b="1" kern="1200" cap="small" baseline="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ES" sz="900" kern="1200" cap="small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0" algn="ctr" defTabSz="914400" rtl="0" eaLnBrk="1" latinLnBrk="0" hangingPunct="1"/>
                      <a:endParaRPr lang="es-ES" sz="900" b="0" kern="1200" cap="small" baseline="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ES" sz="800" b="1" dirty="0">
                          <a:solidFill>
                            <a:schemeClr val="tx1"/>
                          </a:solidFill>
                        </a:rPr>
                        <a:t>VIII. Conclusiones y Recomendaciones</a:t>
                      </a:r>
                    </a:p>
                    <a:p>
                      <a:pPr marL="0" algn="just" defTabSz="914400" rtl="0" eaLnBrk="1" latinLnBrk="0" hangingPunct="1"/>
                      <a:endParaRPr lang="es-ES" sz="800" b="1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ES" sz="900" b="0" kern="1200" cap="small" baseline="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ES" sz="900" b="0" kern="1200" cap="small" baseline="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ES" sz="900" b="0" kern="1200" cap="small" baseline="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2315">
                <a:tc>
                  <a:txBody>
                    <a:bodyPr/>
                    <a:lstStyle/>
                    <a:p>
                      <a:endParaRPr lang="es-MX" sz="3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ES" sz="900" b="0" kern="1200" cap="small" baseline="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1" dirty="0">
                          <a:solidFill>
                            <a:srgbClr val="00467E"/>
                          </a:solidFill>
                        </a:rPr>
                        <a:t>Porcentaje Final Global de Avance:</a:t>
                      </a:r>
                      <a:endParaRPr lang="es-ES" sz="800" b="1" dirty="0">
                        <a:solidFill>
                          <a:srgbClr val="00467E"/>
                        </a:solidFill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ES" sz="900" b="0" kern="1200" cap="small" baseline="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ES" sz="900" b="0" kern="1200" cap="small" baseline="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ES" sz="900" b="0" kern="1200" cap="small" baseline="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60960" marB="6096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125 CuadroTexto"/>
          <p:cNvSpPr txBox="1">
            <a:spLocks noChangeArrowheads="1"/>
          </p:cNvSpPr>
          <p:nvPr/>
        </p:nvSpPr>
        <p:spPr bwMode="auto">
          <a:xfrm>
            <a:off x="260648" y="7668344"/>
            <a:ext cx="629450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1450" indent="-79375" algn="just" defTabSz="1433513">
              <a:buFont typeface="Arial" panose="020B0604020202020204" pitchFamily="34" charset="0"/>
              <a:buChar char="•"/>
            </a:pPr>
            <a:r>
              <a:rPr lang="es-MX" sz="800" dirty="0">
                <a:latin typeface="Sehoe"/>
                <a:ea typeface="Tahoma" panose="020B0604030504040204" pitchFamily="34" charset="0"/>
                <a:cs typeface="Tahoma" panose="020B0604030504040204" pitchFamily="34" charset="0"/>
              </a:rPr>
              <a:t>Cada sección se evalúa con base al 100%.</a:t>
            </a:r>
          </a:p>
          <a:p>
            <a:pPr marL="171450" indent="-79375" algn="just" defTabSz="1433513">
              <a:buFont typeface="Arial" panose="020B0604020202020204" pitchFamily="34" charset="0"/>
              <a:buChar char="•"/>
            </a:pPr>
            <a:r>
              <a:rPr lang="es-MX" sz="800" dirty="0">
                <a:latin typeface="Sehoe"/>
                <a:ea typeface="Tahoma" panose="020B0604030504040204" pitchFamily="34" charset="0"/>
                <a:cs typeface="Tahoma" panose="020B0604030504040204" pitchFamily="34" charset="0"/>
              </a:rPr>
              <a:t>Para </a:t>
            </a:r>
            <a:r>
              <a:rPr lang="es-MX" sz="800" b="1" dirty="0">
                <a:latin typeface="Sehoe"/>
                <a:ea typeface="Tahoma" panose="020B0604030504040204" pitchFamily="34" charset="0"/>
                <a:cs typeface="Tahoma" panose="020B0604030504040204" pitchFamily="34" charset="0"/>
              </a:rPr>
              <a:t>Seminario de Investigación I</a:t>
            </a:r>
            <a:r>
              <a:rPr lang="es-MX" sz="800" dirty="0">
                <a:latin typeface="Sehoe"/>
                <a:ea typeface="Tahoma" panose="020B0604030504040204" pitchFamily="34" charset="0"/>
                <a:cs typeface="Tahoma" panose="020B0604030504040204" pitchFamily="34" charset="0"/>
              </a:rPr>
              <a:t>, deberán ser revisadas las secciones 1 a 5. </a:t>
            </a:r>
          </a:p>
          <a:p>
            <a:pPr marL="171450" indent="-79375" algn="just" defTabSz="1433513">
              <a:buFont typeface="Arial" panose="020B0604020202020204" pitchFamily="34" charset="0"/>
              <a:buChar char="•"/>
            </a:pPr>
            <a:r>
              <a:rPr lang="es-MX" sz="800" dirty="0">
                <a:latin typeface="Sehoe"/>
                <a:ea typeface="Tahoma" panose="020B0604030504040204" pitchFamily="34" charset="0"/>
                <a:cs typeface="Tahoma" panose="020B0604030504040204" pitchFamily="34" charset="0"/>
              </a:rPr>
              <a:t>Para </a:t>
            </a:r>
            <a:r>
              <a:rPr lang="es-MX" sz="800" b="1" dirty="0">
                <a:latin typeface="Sehoe"/>
                <a:ea typeface="Tahoma" panose="020B0604030504040204" pitchFamily="34" charset="0"/>
                <a:cs typeface="Tahoma" panose="020B0604030504040204" pitchFamily="34" charset="0"/>
              </a:rPr>
              <a:t>Seminario de Investigación II </a:t>
            </a:r>
            <a:r>
              <a:rPr lang="es-MX" sz="800" dirty="0">
                <a:latin typeface="Sehoe"/>
                <a:ea typeface="Tahoma" panose="020B0604030504040204" pitchFamily="34" charset="0"/>
                <a:cs typeface="Tahoma" panose="020B0604030504040204" pitchFamily="34" charset="0"/>
              </a:rPr>
              <a:t>se deberán revisar nuevamente y actualizar el porcentaje de los puntos 1 a 5, así como revisar el desarrollo de las secciones 6 y 7.</a:t>
            </a:r>
          </a:p>
          <a:p>
            <a:pPr marL="171450" indent="-79375" algn="just" defTabSz="1433513">
              <a:buFont typeface="Arial" panose="020B0604020202020204" pitchFamily="34" charset="0"/>
              <a:buChar char="•"/>
            </a:pPr>
            <a:r>
              <a:rPr lang="es-MX" sz="800" dirty="0">
                <a:latin typeface="Sehoe"/>
                <a:ea typeface="Tahoma" panose="020B0604030504040204" pitchFamily="34" charset="0"/>
                <a:cs typeface="Tahoma" panose="020B0604030504040204" pitchFamily="34" charset="0"/>
              </a:rPr>
              <a:t>Para que el alumno acredite la materia de Seminario de Investigación II se deberá aprobar el avance con un mínimo del </a:t>
            </a:r>
            <a:r>
              <a:rPr lang="es-MX" sz="800" b="1" dirty="0">
                <a:latin typeface="Sehoe"/>
                <a:ea typeface="Tahoma" panose="020B0604030504040204" pitchFamily="34" charset="0"/>
                <a:cs typeface="Tahoma" panose="020B0604030504040204" pitchFamily="34" charset="0"/>
              </a:rPr>
              <a:t>90%</a:t>
            </a:r>
            <a:r>
              <a:rPr lang="es-MX" sz="800" dirty="0">
                <a:latin typeface="Sehoe"/>
                <a:ea typeface="Tahoma" panose="020B0604030504040204" pitchFamily="34" charset="0"/>
                <a:cs typeface="Tahoma" panose="020B0604030504040204" pitchFamily="34" charset="0"/>
              </a:rPr>
              <a:t> del total de su investigación, presentando todas las firmas del Director o de quien decida el Comité de Tesis asignado (firma autógrafa).</a:t>
            </a: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7590982" y="13085857"/>
            <a:ext cx="1518554" cy="1061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_tradnl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tham Light" pitchFamily="2" charset="0"/>
                <a:ea typeface="MS Mincho" pitchFamily="49" charset="-128"/>
                <a:cs typeface="Times New Roman" pitchFamily="18" charset="0"/>
              </a:rPr>
              <a:t>Centro Universitario </a:t>
            </a:r>
            <a:r>
              <a:rPr kumimoji="0" lang="es-ES_tradnl" sz="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tham Light" pitchFamily="2" charset="0"/>
                <a:ea typeface="MS Mincho" pitchFamily="49" charset="-128"/>
                <a:cs typeface="Times New Roman" pitchFamily="18" charset="0"/>
              </a:rPr>
              <a:t>Tamico</a:t>
            </a:r>
            <a:r>
              <a:rPr kumimoji="0" lang="es-ES_tradnl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tham Light" pitchFamily="2" charset="0"/>
                <a:ea typeface="MS Mincho" pitchFamily="49" charset="-128"/>
                <a:cs typeface="Times New Roman" pitchFamily="18" charset="0"/>
              </a:rPr>
              <a:t>- Madero. Col. Universidad Poniente</a:t>
            </a:r>
            <a:endParaRPr kumimoji="0" lang="es-MX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tham Light" pitchFamily="2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_tradnl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tham Light" pitchFamily="2" charset="0"/>
                <a:ea typeface="MS Mincho" pitchFamily="49" charset="-128"/>
                <a:cs typeface="Times New Roman" pitchFamily="18" charset="0"/>
              </a:rPr>
              <a:t>Tampico, Tamaulipas, www.facultaddeingenieria.com</a:t>
            </a:r>
            <a:endParaRPr kumimoji="0" lang="es-MX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tham Light" pitchFamily="2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_tradnl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tham Light" pitchFamily="2" charset="0"/>
                <a:ea typeface="MS Mincho" pitchFamily="49" charset="-128"/>
                <a:cs typeface="Times New Roman" pitchFamily="18" charset="0"/>
              </a:rPr>
              <a:t>Teléfono: (833) 241 20 00 ext. 3331,</a:t>
            </a:r>
            <a:r>
              <a:rPr kumimoji="0" lang="es-ES_tradnl" sz="700" b="0" i="0" u="none" strike="noStrike" cap="none" normalizeH="0" baseline="0" dirty="0">
                <a:ln>
                  <a:noFill/>
                </a:ln>
                <a:effectLst/>
                <a:latin typeface="Gotham Light" pitchFamily="2" charset="0"/>
                <a:ea typeface="MS Mincho" pitchFamily="49" charset="-128"/>
                <a:cs typeface="Times New Roman" pitchFamily="18" charset="0"/>
              </a:rPr>
              <a:t> 3451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700" b="0" i="0" u="none" strike="noStrike" cap="none" normalizeH="0" baseline="0" dirty="0">
              <a:ln>
                <a:noFill/>
              </a:ln>
              <a:effectLst/>
              <a:latin typeface="Gotham Light" pitchFamily="2" charset="0"/>
              <a:cs typeface="Arial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0A34310-3161-44A5-9C24-989CCF431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3EB2683F-707F-48CC-B278-4A1607C07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656" y="8509273"/>
            <a:ext cx="598060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_tradnl" altLang="es-MX" sz="7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ource Sans Pro Light" panose="020B0403030403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FACULTAD DE INGENIERÍA TAMPICO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_tradnl" altLang="es-MX" sz="7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ource Sans Pro Light" panose="020B0403030403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</a:t>
            </a:r>
            <a:r>
              <a:rPr kumimoji="0" lang="es-ES_tradnl" altLang="es-MX" sz="700" b="0" i="0" u="none" strike="noStrike" cap="none" normalizeH="0" baseline="0" dirty="0" bmk="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ource Sans Pro Light" panose="020B0403030403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entro Universitario </a:t>
            </a:r>
            <a:r>
              <a:rPr lang="es-ES_tradnl" altLang="es-MX" sz="700" dirty="0" bmk="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anose="020B0403030403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_tradnl" altLang="es-MX" sz="700" b="0" i="0" u="none" strike="noStrike" cap="none" normalizeH="0" baseline="0" dirty="0" bmk="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ource Sans Pro Light" panose="020B0403030403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Tampico 	                                                                     (833) 241-2000, ext. 3451 al 3462</a:t>
            </a:r>
            <a:endParaRPr kumimoji="0" lang="es-MX" altLang="es-MX" sz="100" b="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_tradnl" altLang="es-MX" sz="7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ource Sans Pro Light" panose="020B0403030403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C.P. 89109.        		                  </a:t>
            </a:r>
            <a:r>
              <a:rPr kumimoji="0" lang="es-ES_tradnl" altLang="es-MX" sz="7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ource Sans Pro Light" panose="020B0403030403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www.uat.edu.mx            </a:t>
            </a:r>
            <a:endParaRPr kumimoji="0" lang="es-ES_tradnl" altLang="es-MX" sz="1200" b="1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48D0CCB-7AC1-ED19-C256-A2E84AC1F068}"/>
              </a:ext>
            </a:extLst>
          </p:cNvPr>
          <p:cNvSpPr txBox="1"/>
          <p:nvPr/>
        </p:nvSpPr>
        <p:spPr>
          <a:xfrm>
            <a:off x="4371244" y="674276"/>
            <a:ext cx="2226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 dirty="0">
                <a:latin typeface="Visby" pitchFamily="50" charset="0"/>
              </a:rPr>
              <a:t>Academia de Investigación</a:t>
            </a:r>
          </a:p>
          <a:p>
            <a:r>
              <a:rPr lang="es-MX" sz="800" dirty="0">
                <a:latin typeface="Visby" pitchFamily="50" charset="0"/>
              </a:rPr>
              <a:t>Coordinación de Investigación  </a:t>
            </a:r>
            <a:endParaRPr lang="es-MX" sz="900" dirty="0">
              <a:latin typeface="Visby" pitchFamily="50" charset="0"/>
            </a:endParaRPr>
          </a:p>
        </p:txBody>
      </p:sp>
      <p:pic>
        <p:nvPicPr>
          <p:cNvPr id="7" name="Imagen 6" descr="Imagen que contiene Forma&#10;&#10;Descripción generada automáticamente">
            <a:extLst>
              <a:ext uri="{FF2B5EF4-FFF2-40B4-BE49-F238E27FC236}">
                <a16:creationId xmlns:a16="http://schemas.microsoft.com/office/drawing/2014/main" id="{A2BEA732-340C-8932-150A-781A9FEEFD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1072" y="107504"/>
            <a:ext cx="2354272" cy="733912"/>
          </a:xfrm>
          <a:prstGeom prst="rect">
            <a:avLst/>
          </a:prstGeom>
        </p:spPr>
      </p:pic>
      <p:pic>
        <p:nvPicPr>
          <p:cNvPr id="5" name="Imagen 4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34AA8AD2-835E-1195-B32B-D4637CD4D66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664" y="306831"/>
            <a:ext cx="2430530" cy="5283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292</Words>
  <Application>Microsoft Office PowerPoint</Application>
  <PresentationFormat>Carta (216 x 279 mm)</PresentationFormat>
  <Paragraphs>46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1" baseType="lpstr">
      <vt:lpstr>Aptos</vt:lpstr>
      <vt:lpstr>Arial</vt:lpstr>
      <vt:lpstr>Calibri</vt:lpstr>
      <vt:lpstr>Cambria</vt:lpstr>
      <vt:lpstr>Gotham Light</vt:lpstr>
      <vt:lpstr>Sehoe</vt:lpstr>
      <vt:lpstr>Source Sans Pro Light</vt:lpstr>
      <vt:lpstr>Tahoma</vt:lpstr>
      <vt:lpstr>Visby</vt:lpstr>
      <vt:lpstr>Tema de Office</vt:lpstr>
      <vt:lpstr>Presentación de PowerPoint</vt:lpstr>
    </vt:vector>
  </TitlesOfParts>
  <Company>UAT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AcademInvestigación</dc:creator>
  <cp:lastModifiedBy>Vargas Castilleja Rocio Del Carmen</cp:lastModifiedBy>
  <cp:revision>52</cp:revision>
  <dcterms:created xsi:type="dcterms:W3CDTF">2008-10-30T15:39:56Z</dcterms:created>
  <dcterms:modified xsi:type="dcterms:W3CDTF">2025-10-07T00:47:35Z</dcterms:modified>
</cp:coreProperties>
</file>